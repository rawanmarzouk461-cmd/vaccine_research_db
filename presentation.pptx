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ileron Bold" charset="1" panose="00000800000000000000"/>
      <p:regular r:id="rId17"/>
    </p:embeddedFont>
    <p:embeddedFont>
      <p:font typeface="Aileron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159884" y="1856240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28040" y="4136793"/>
            <a:ext cx="8115954" cy="81159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86088" y="2656297"/>
            <a:ext cx="10799104" cy="416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43"/>
              </a:lnSpc>
            </a:pPr>
            <a:r>
              <a:rPr lang="en-US" b="true" sz="790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VACCINE RESEARCH &amp; DEVELOPMENT MANAGEMENT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3713" y="6824590"/>
            <a:ext cx="11226222" cy="79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7"/>
              </a:lnSpc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Data-Driven Approach to Clinical Trial Monitoring and Candidate Tracking</a:t>
            </a:r>
          </a:p>
          <a:p>
            <a:pPr algn="l" marL="0" indent="0" lvl="0">
              <a:lnSpc>
                <a:spcPts val="3137"/>
              </a:lnSpc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Course: Fundamentals of Databases | Rawan Mohamed  231002210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1171694"/>
            <a:ext cx="1369094" cy="13690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93180" y="-968101"/>
            <a:ext cx="17581127" cy="12223202"/>
            <a:chOff x="0" y="0"/>
            <a:chExt cx="602809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2809" cy="419100"/>
            </a:xfrm>
            <a:custGeom>
              <a:avLst/>
              <a:gdLst/>
              <a:ahLst/>
              <a:cxnLst/>
              <a:rect r="r" b="b" t="t" l="l"/>
              <a:pathLst>
                <a:path h="419100" w="602809">
                  <a:moveTo>
                    <a:pt x="8257" y="0"/>
                  </a:moveTo>
                  <a:lnTo>
                    <a:pt x="390931" y="0"/>
                  </a:lnTo>
                  <a:cubicBezTo>
                    <a:pt x="507877" y="0"/>
                    <a:pt x="602809" y="93819"/>
                    <a:pt x="602809" y="209550"/>
                  </a:cubicBezTo>
                  <a:cubicBezTo>
                    <a:pt x="602809" y="325281"/>
                    <a:pt x="507877" y="419100"/>
                    <a:pt x="390931" y="419100"/>
                  </a:cubicBezTo>
                  <a:lnTo>
                    <a:pt x="8257" y="419100"/>
                  </a:lnTo>
                  <a:cubicBezTo>
                    <a:pt x="6067" y="419100"/>
                    <a:pt x="3967" y="418230"/>
                    <a:pt x="2418" y="416682"/>
                  </a:cubicBezTo>
                  <a:cubicBezTo>
                    <a:pt x="870" y="415133"/>
                    <a:pt x="0" y="413033"/>
                    <a:pt x="0" y="410843"/>
                  </a:cubicBezTo>
                  <a:lnTo>
                    <a:pt x="0" y="8257"/>
                  </a:lnTo>
                  <a:cubicBezTo>
                    <a:pt x="0" y="6067"/>
                    <a:pt x="870" y="3967"/>
                    <a:pt x="2418" y="2418"/>
                  </a:cubicBezTo>
                  <a:cubicBezTo>
                    <a:pt x="3967" y="870"/>
                    <a:pt x="6067" y="0"/>
                    <a:pt x="82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374209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79233" y="6313893"/>
            <a:ext cx="4667236" cy="46672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34597" y="1502444"/>
            <a:ext cx="15924703" cy="114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88"/>
              </a:lnSpc>
            </a:pPr>
            <a:r>
              <a:rPr lang="en-US" b="true" sz="8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Background &amp; Clinical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3195" y="3341731"/>
            <a:ext cx="13308377" cy="506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0" indent="-356230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Complex vaccine R&amp;D generates large amounts of data</a:t>
            </a:r>
          </a:p>
          <a:p>
            <a:pPr algn="just" marL="712460" indent="-356230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Data may become fragmented across spreadsheets and files</a:t>
            </a:r>
          </a:p>
          <a:p>
            <a:pPr algn="just" marL="712460" indent="-356230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Participant confidentiality must be protected</a:t>
            </a:r>
          </a:p>
          <a:p>
            <a:pPr algn="just" marL="712460" indent="-356230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Adverse events need efficient tracking</a:t>
            </a:r>
          </a:p>
          <a:p>
            <a:pPr algn="just" marL="712460" indent="-356230" lvl="1">
              <a:lnSpc>
                <a:spcPts val="8249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Centralized database reduces data fragmentation and errors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340394" y="9258300"/>
            <a:ext cx="1369094" cy="13690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159" y="-4975700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14939" y="6924682"/>
            <a:ext cx="4667236" cy="46672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23855" y="1956810"/>
            <a:ext cx="15924703" cy="104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8"/>
              </a:lnSpc>
            </a:pPr>
            <a:r>
              <a:rPr lang="en-US" b="true" sz="7600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System Purpose &amp; Core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18271" y="3286121"/>
            <a:ext cx="13251457" cy="59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b="true" sz="3299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Centralized Data Management </a:t>
            </a:r>
          </a:p>
          <a:p>
            <a:pPr algn="just" marL="582924" indent="-291462" lvl="1">
              <a:lnSpc>
                <a:spcPts val="539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Vaccine candidates, antigens, formulations, and batches</a:t>
            </a:r>
          </a:p>
          <a:p>
            <a:pPr algn="l">
              <a:lnSpc>
                <a:spcPts val="6599"/>
              </a:lnSpc>
            </a:pPr>
            <a:r>
              <a:rPr lang="en-US" b="true" sz="3299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Trial Management</a:t>
            </a:r>
          </a:p>
          <a:p>
            <a:pPr algn="l" marL="582924" indent="-291462" lvl="1">
              <a:lnSpc>
                <a:spcPts val="539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Research sites and Phases I, II &amp; III</a:t>
            </a:r>
          </a:p>
          <a:p>
            <a:pPr algn="l">
              <a:lnSpc>
                <a:spcPts val="6599"/>
              </a:lnSpc>
            </a:pPr>
            <a:r>
              <a:rPr lang="en-US" b="true" sz="3299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Participant Safety</a:t>
            </a:r>
          </a:p>
          <a:p>
            <a:pPr algn="l" marL="582924" indent="-291462" lvl="1">
              <a:lnSpc>
                <a:spcPts val="539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Anonymized participants and adverse events</a:t>
            </a:r>
          </a:p>
          <a:p>
            <a:pPr algn="l">
              <a:lnSpc>
                <a:spcPts val="6599"/>
              </a:lnSpc>
            </a:pPr>
            <a:r>
              <a:rPr lang="en-US" b="true" sz="3299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Integrity</a:t>
            </a:r>
          </a:p>
          <a:p>
            <a:pPr algn="l" marL="582924" indent="-291462" lvl="1">
              <a:lnSpc>
                <a:spcPts val="539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Expiration-date validation and structured lab records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91118" y="344153"/>
            <a:ext cx="1369094" cy="13690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2272819" y="-1522676"/>
            <a:ext cx="17525876" cy="14570039"/>
            <a:chOff x="0" y="0"/>
            <a:chExt cx="504123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123" cy="419100"/>
            </a:xfrm>
            <a:custGeom>
              <a:avLst/>
              <a:gdLst/>
              <a:ahLst/>
              <a:cxnLst/>
              <a:rect r="r" b="b" t="t" l="l"/>
              <a:pathLst>
                <a:path h="419100" w="504123">
                  <a:moveTo>
                    <a:pt x="8283" y="0"/>
                  </a:moveTo>
                  <a:lnTo>
                    <a:pt x="294534" y="0"/>
                  </a:lnTo>
                  <a:cubicBezTo>
                    <a:pt x="409192" y="0"/>
                    <a:pt x="504123" y="93819"/>
                    <a:pt x="504123" y="209550"/>
                  </a:cubicBezTo>
                  <a:cubicBezTo>
                    <a:pt x="504123" y="325281"/>
                    <a:pt x="409192" y="419100"/>
                    <a:pt x="294534" y="419100"/>
                  </a:cubicBezTo>
                  <a:lnTo>
                    <a:pt x="8283" y="419100"/>
                  </a:lnTo>
                  <a:cubicBezTo>
                    <a:pt x="3708" y="419100"/>
                    <a:pt x="0" y="415392"/>
                    <a:pt x="0" y="410817"/>
                  </a:cubicBezTo>
                  <a:lnTo>
                    <a:pt x="0" y="8283"/>
                  </a:lnTo>
                  <a:cubicBezTo>
                    <a:pt x="0" y="3708"/>
                    <a:pt x="3708" y="0"/>
                    <a:pt x="8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275523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402082" y="8065584"/>
            <a:ext cx="3992154" cy="39921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33255" y="1098341"/>
            <a:ext cx="1140500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180"/>
              </a:lnSpc>
            </a:pPr>
            <a:r>
              <a:rPr lang="en-US" b="true" sz="60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&amp; Biological Data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3648" y="2198760"/>
            <a:ext cx="8744218" cy="743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10"/>
              </a:lnSpc>
            </a:pPr>
            <a:r>
              <a:rPr lang="en-US" b="true" sz="3300" spc="330" u="sng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Vaccine Design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Target disease &amp; technology platform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Molecular antigen registration</a:t>
            </a:r>
          </a:p>
          <a:p>
            <a:pPr algn="just">
              <a:lnSpc>
                <a:spcPts val="5610"/>
              </a:lnSpc>
            </a:pPr>
            <a:r>
              <a:rPr lang="en-US" b="true" sz="3300" spc="330" u="sng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Formulation &amp; Manufacturing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Formulation specifications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Production &amp; expiration dates</a:t>
            </a:r>
          </a:p>
          <a:p>
            <a:pPr algn="just">
              <a:lnSpc>
                <a:spcPts val="5610"/>
              </a:lnSpc>
            </a:pPr>
            <a:r>
              <a:rPr lang="en-US" b="true" sz="3300" spc="330" u="sng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Trials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Research sites &amp; trial phases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Anonymized participant enrollment</a:t>
            </a:r>
          </a:p>
          <a:p>
            <a:pPr algn="just">
              <a:lnSpc>
                <a:spcPts val="5610"/>
              </a:lnSpc>
            </a:pPr>
            <a:r>
              <a:rPr lang="en-US" b="true" sz="3300" spc="330" u="sng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Monitoring &amp; Evaluation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Adverse events</a:t>
            </a:r>
          </a:p>
          <a:p>
            <a:pPr algn="just" marL="582930" indent="-291465" lvl="1">
              <a:lnSpc>
                <a:spcPts val="4590"/>
              </a:lnSpc>
              <a:buFont typeface="Arial"/>
              <a:buChar char="•"/>
            </a:pPr>
            <a:r>
              <a:rPr lang="en-US" sz="2700" spc="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Laboratory test results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650916" y="89292"/>
            <a:ext cx="1369094" cy="13690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533713" y="8368177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609980" y="-2009834"/>
            <a:ext cx="5567346" cy="55673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48682" y="585092"/>
            <a:ext cx="12590636" cy="101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672"/>
              </a:lnSpc>
            </a:pPr>
            <a:r>
              <a:rPr lang="en-US" b="true" sz="7448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Relational Data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8272" y="8573753"/>
            <a:ext cx="1369094" cy="13690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3693" y="1908705"/>
            <a:ext cx="8427934" cy="8066411"/>
            <a:chOff x="0" y="0"/>
            <a:chExt cx="84922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9228" cy="812800"/>
            </a:xfrm>
            <a:custGeom>
              <a:avLst/>
              <a:gdLst/>
              <a:ahLst/>
              <a:cxnLst/>
              <a:rect r="r" b="b" t="t" l="l"/>
              <a:pathLst>
                <a:path h="812800" w="849228">
                  <a:moveTo>
                    <a:pt x="21128" y="0"/>
                  </a:moveTo>
                  <a:lnTo>
                    <a:pt x="828100" y="0"/>
                  </a:lnTo>
                  <a:cubicBezTo>
                    <a:pt x="833704" y="0"/>
                    <a:pt x="839078" y="2226"/>
                    <a:pt x="843040" y="6188"/>
                  </a:cubicBezTo>
                  <a:cubicBezTo>
                    <a:pt x="847002" y="10150"/>
                    <a:pt x="849228" y="15524"/>
                    <a:pt x="849228" y="21128"/>
                  </a:cubicBezTo>
                  <a:lnTo>
                    <a:pt x="849228" y="791672"/>
                  </a:lnTo>
                  <a:cubicBezTo>
                    <a:pt x="849228" y="797276"/>
                    <a:pt x="847002" y="802650"/>
                    <a:pt x="843040" y="806612"/>
                  </a:cubicBezTo>
                  <a:cubicBezTo>
                    <a:pt x="839078" y="810574"/>
                    <a:pt x="833704" y="812800"/>
                    <a:pt x="828100" y="812800"/>
                  </a:cubicBezTo>
                  <a:lnTo>
                    <a:pt x="21128" y="812800"/>
                  </a:lnTo>
                  <a:cubicBezTo>
                    <a:pt x="15524" y="812800"/>
                    <a:pt x="10150" y="810574"/>
                    <a:pt x="6188" y="806612"/>
                  </a:cubicBezTo>
                  <a:cubicBezTo>
                    <a:pt x="2226" y="802650"/>
                    <a:pt x="0" y="797276"/>
                    <a:pt x="0" y="791672"/>
                  </a:cubicBezTo>
                  <a:lnTo>
                    <a:pt x="0" y="21128"/>
                  </a:lnTo>
                  <a:cubicBezTo>
                    <a:pt x="0" y="15524"/>
                    <a:pt x="2226" y="10150"/>
                    <a:pt x="6188" y="6188"/>
                  </a:cubicBezTo>
                  <a:cubicBezTo>
                    <a:pt x="10150" y="2226"/>
                    <a:pt x="15524" y="0"/>
                    <a:pt x="2112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94" r="0" b="-494"/>
              </a:stretch>
            </a:blipFill>
            <a:ln w="85725" cap="rnd">
              <a:gradFill>
                <a:gsLst>
                  <a:gs pos="0">
                    <a:srgbClr val="4B6A7A">
                      <a:alpha val="100000"/>
                    </a:srgbClr>
                  </a:gs>
                  <a:gs pos="100000">
                    <a:srgbClr val="082E4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0" y="1851555"/>
            <a:ext cx="7120041" cy="637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1"/>
              </a:lnSpc>
            </a:pPr>
            <a:r>
              <a:rPr lang="en-US" b="true" sz="330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Biological Domain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Vaccine Candidates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Antigens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Formulations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Batches</a:t>
            </a:r>
          </a:p>
          <a:p>
            <a:pPr algn="just">
              <a:lnSpc>
                <a:spcPts val="4521"/>
              </a:lnSpc>
            </a:pPr>
            <a:r>
              <a:rPr lang="en-US" b="true" sz="330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Clinical Domain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Research Sites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Clinical Studies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Participants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Adverse Events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Lab Tests</a:t>
            </a:r>
          </a:p>
          <a:p>
            <a:pPr algn="just">
              <a:lnSpc>
                <a:spcPts val="4521"/>
              </a:lnSpc>
            </a:pPr>
            <a:r>
              <a:rPr lang="en-US" b="true" sz="330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11 Relational Tables</a:t>
            </a:r>
          </a:p>
          <a:p>
            <a:pPr algn="just" marL="582930" indent="-291465" lvl="1">
              <a:lnSpc>
                <a:spcPts val="369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Primary &amp; Foreign Key Relationships</a:t>
            </a:r>
          </a:p>
        </p:txBody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159" y="-4975700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04151" y="7631911"/>
            <a:ext cx="4667236" cy="46672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91118" y="344153"/>
            <a:ext cx="1369094" cy="136909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716909" y="5754782"/>
            <a:ext cx="11784119" cy="4210747"/>
          </a:xfrm>
          <a:custGeom>
            <a:avLst/>
            <a:gdLst/>
            <a:ahLst/>
            <a:cxnLst/>
            <a:rect r="r" b="b" t="t" l="l"/>
            <a:pathLst>
              <a:path h="4210747" w="11784119">
                <a:moveTo>
                  <a:pt x="0" y="0"/>
                </a:moveTo>
                <a:lnTo>
                  <a:pt x="11784119" y="0"/>
                </a:lnTo>
                <a:lnTo>
                  <a:pt x="11784119" y="4210747"/>
                </a:lnTo>
                <a:lnTo>
                  <a:pt x="0" y="4210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3" t="0" r="0" b="-471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4033" y="738903"/>
            <a:ext cx="15659934" cy="136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93"/>
              </a:lnSpc>
            </a:pPr>
            <a:r>
              <a:rPr lang="en-US" b="true" sz="9993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Clinical Safety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310785"/>
            <a:ext cx="7580269" cy="338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00"/>
              </a:lnSpc>
            </a:pPr>
            <a:r>
              <a:rPr lang="en-US" b="true" sz="3723" spc="26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Part</a:t>
            </a:r>
            <a:r>
              <a:rPr lang="en-US" b="true" sz="3723" spc="26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icipant Anonymization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Generated anonymized identifiers</a:t>
            </a:r>
          </a:p>
          <a:p>
            <a:pPr algn="just">
              <a:lnSpc>
                <a:spcPts val="5100"/>
              </a:lnSpc>
            </a:pPr>
            <a:r>
              <a:rPr lang="en-US" b="true" sz="3723" spc="26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Adverse Event Tracking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Severity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Desc</a:t>
            </a: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ription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Report d</a:t>
            </a: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5298" y="2310785"/>
            <a:ext cx="8468949" cy="286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00"/>
              </a:lnSpc>
            </a:pPr>
            <a:r>
              <a:rPr lang="en-US" b="true" sz="3723" spc="26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3723" spc="26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afety Monitoring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Identify severe adverse events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</a:t>
            </a: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ink events to studies and participants</a:t>
            </a:r>
          </a:p>
          <a:p>
            <a:pPr algn="just">
              <a:lnSpc>
                <a:spcPts val="5100"/>
              </a:lnSpc>
            </a:pPr>
            <a:r>
              <a:rPr lang="en-US" b="true" sz="3723" spc="260" u="sng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Active Adverse Events View</a:t>
            </a:r>
          </a:p>
          <a:p>
            <a:pPr algn="just" marL="657690" indent="-328845" lvl="1">
              <a:lnSpc>
                <a:spcPts val="4173"/>
              </a:lnSpc>
              <a:buFont typeface="Arial"/>
              <a:buChar char="•"/>
            </a:pPr>
            <a:r>
              <a:rPr lang="en-US" sz="3046" spc="2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Centralized safety information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533713" y="8368177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609980" y="-2009834"/>
            <a:ext cx="5567346" cy="55673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48682" y="580882"/>
            <a:ext cx="12590636" cy="1000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23"/>
              </a:lnSpc>
            </a:pPr>
            <a:r>
              <a:rPr lang="en-US" b="true" sz="7304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R&amp;D Analytics &amp; Trial Metrics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8272" y="8573753"/>
            <a:ext cx="1369094" cy="13690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4670" y="5411977"/>
            <a:ext cx="10575155" cy="4211728"/>
            <a:chOff x="0" y="0"/>
            <a:chExt cx="2040845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0845" cy="812800"/>
            </a:xfrm>
            <a:custGeom>
              <a:avLst/>
              <a:gdLst/>
              <a:ahLst/>
              <a:cxnLst/>
              <a:rect r="r" b="b" t="t" l="l"/>
              <a:pathLst>
                <a:path h="812800" w="2040845">
                  <a:moveTo>
                    <a:pt x="16838" y="0"/>
                  </a:moveTo>
                  <a:lnTo>
                    <a:pt x="2024007" y="0"/>
                  </a:lnTo>
                  <a:cubicBezTo>
                    <a:pt x="2028473" y="0"/>
                    <a:pt x="2032756" y="1774"/>
                    <a:pt x="2035914" y="4932"/>
                  </a:cubicBezTo>
                  <a:cubicBezTo>
                    <a:pt x="2039071" y="8089"/>
                    <a:pt x="2040845" y="12372"/>
                    <a:pt x="2040845" y="16838"/>
                  </a:cubicBezTo>
                  <a:lnTo>
                    <a:pt x="2040845" y="795962"/>
                  </a:lnTo>
                  <a:cubicBezTo>
                    <a:pt x="2040845" y="800428"/>
                    <a:pt x="2039071" y="804711"/>
                    <a:pt x="2035914" y="807868"/>
                  </a:cubicBezTo>
                  <a:cubicBezTo>
                    <a:pt x="2032756" y="811026"/>
                    <a:pt x="2028473" y="812800"/>
                    <a:pt x="2024007" y="812800"/>
                  </a:cubicBezTo>
                  <a:lnTo>
                    <a:pt x="16838" y="812800"/>
                  </a:lnTo>
                  <a:cubicBezTo>
                    <a:pt x="12372" y="812800"/>
                    <a:pt x="8089" y="811026"/>
                    <a:pt x="4932" y="807868"/>
                  </a:cubicBezTo>
                  <a:cubicBezTo>
                    <a:pt x="1774" y="804711"/>
                    <a:pt x="0" y="800428"/>
                    <a:pt x="0" y="795962"/>
                  </a:cubicBezTo>
                  <a:lnTo>
                    <a:pt x="0" y="16838"/>
                  </a:lnTo>
                  <a:cubicBezTo>
                    <a:pt x="0" y="12372"/>
                    <a:pt x="1774" y="8089"/>
                    <a:pt x="4932" y="4932"/>
                  </a:cubicBezTo>
                  <a:cubicBezTo>
                    <a:pt x="8089" y="1774"/>
                    <a:pt x="12372" y="0"/>
                    <a:pt x="1683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5087" b="0"/>
              </a:stretch>
            </a:blipFill>
            <a:ln w="85725" cap="rnd">
              <a:gradFill>
                <a:gsLst>
                  <a:gs pos="0">
                    <a:srgbClr val="4B6A7A">
                      <a:alpha val="100000"/>
                    </a:srgbClr>
                  </a:gs>
                  <a:gs pos="100000">
                    <a:srgbClr val="082E4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658930" y="1821252"/>
            <a:ext cx="6186634" cy="285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2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Participant </a:t>
            </a: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Enrollment</a:t>
            </a:r>
          </a:p>
          <a:p>
            <a:pPr algn="just" marL="582930" indent="-291465" lvl="1">
              <a:lnSpc>
                <a:spcPts val="515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Count participants per clinical study</a:t>
            </a:r>
          </a:p>
          <a:p>
            <a:pPr algn="just">
              <a:lnSpc>
                <a:spcPts val="6302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Trial Monitoring</a:t>
            </a:r>
          </a:p>
          <a:p>
            <a:pPr algn="just" marL="582930" indent="-291465" lvl="1">
              <a:lnSpc>
                <a:spcPts val="515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Active Phase I, II &amp; III studies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12108" y="1821252"/>
            <a:ext cx="5561347" cy="414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02"/>
              </a:lnSpc>
            </a:pPr>
            <a:r>
              <a:rPr lang="en-US" sz="33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Adverse Event Analysis</a:t>
            </a:r>
          </a:p>
          <a:p>
            <a:pPr algn="just" marL="582930" indent="-291465" lvl="1">
              <a:lnSpc>
                <a:spcPts val="515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Filter severe reactions</a:t>
            </a:r>
          </a:p>
          <a:p>
            <a:pPr algn="just">
              <a:lnSpc>
                <a:spcPts val="6302"/>
              </a:lnSpc>
            </a:pPr>
            <a:r>
              <a:rPr lang="en-US" sz="33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Study Overview</a:t>
            </a:r>
          </a:p>
          <a:p>
            <a:pPr algn="just" marL="582930" indent="-291465" lvl="1">
              <a:lnSpc>
                <a:spcPts val="515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Trial metrics</a:t>
            </a:r>
          </a:p>
          <a:p>
            <a:pPr algn="just" marL="582930" indent="-291465" lvl="1">
              <a:lnSpc>
                <a:spcPts val="515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Candidate &amp; site details</a:t>
            </a:r>
          </a:p>
          <a:p>
            <a:pPr algn="just" marL="582930" indent="-291465" lvl="1">
              <a:lnSpc>
                <a:spcPts val="515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Enrollment and event counts</a:t>
            </a: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159" y="-4975700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04151" y="7631911"/>
            <a:ext cx="4667236" cy="46672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91118" y="344153"/>
            <a:ext cx="1369094" cy="136909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560807" y="3335102"/>
            <a:ext cx="10450201" cy="5695360"/>
          </a:xfrm>
          <a:custGeom>
            <a:avLst/>
            <a:gdLst/>
            <a:ahLst/>
            <a:cxnLst/>
            <a:rect r="r" b="b" t="t" l="l"/>
            <a:pathLst>
              <a:path h="5695360" w="10450201">
                <a:moveTo>
                  <a:pt x="0" y="0"/>
                </a:moveTo>
                <a:lnTo>
                  <a:pt x="10450202" y="0"/>
                </a:lnTo>
                <a:lnTo>
                  <a:pt x="10450202" y="5695359"/>
                </a:lnTo>
                <a:lnTo>
                  <a:pt x="0" y="5695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48458" y="1097828"/>
            <a:ext cx="13591085" cy="13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00"/>
              </a:lnSpc>
            </a:pPr>
            <a:r>
              <a:rPr lang="en-US" b="true" sz="10000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Interactive R&amp;D Portal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6503" y="2568044"/>
            <a:ext cx="8969649" cy="710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80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User-F</a:t>
            </a: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riendly Interface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direct SQL knowledge required</a:t>
            </a:r>
          </a:p>
          <a:p>
            <a:pPr algn="just">
              <a:lnSpc>
                <a:spcPts val="5280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 Browsing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Search tables and views</a:t>
            </a:r>
          </a:p>
          <a:p>
            <a:pPr algn="just">
              <a:lnSpc>
                <a:spcPts val="5280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CRUD Operations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Add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Update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Delete</a:t>
            </a:r>
          </a:p>
          <a:p>
            <a:pPr algn="just">
              <a:lnSpc>
                <a:spcPts val="5280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Real-Time Integration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Changes are stored directly in MySQL</a:t>
            </a:r>
          </a:p>
          <a:p>
            <a:pPr algn="just">
              <a:lnSpc>
                <a:spcPts val="5280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Verification</a:t>
            </a:r>
          </a:p>
          <a:p>
            <a:pPr algn="just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Confirm successful record insertion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584520" y="8909396"/>
            <a:ext cx="21419184" cy="6574519"/>
            <a:chOff x="0" y="0"/>
            <a:chExt cx="136539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5390" cy="419100"/>
            </a:xfrm>
            <a:custGeom>
              <a:avLst/>
              <a:gdLst/>
              <a:ahLst/>
              <a:cxnLst/>
              <a:rect r="r" b="b" t="t" l="l"/>
              <a:pathLst>
                <a:path h="419100" w="1365390">
                  <a:moveTo>
                    <a:pt x="6777" y="0"/>
                  </a:moveTo>
                  <a:lnTo>
                    <a:pt x="1135827" y="0"/>
                  </a:lnTo>
                  <a:cubicBezTo>
                    <a:pt x="1270458" y="0"/>
                    <a:pt x="1365390" y="93819"/>
                    <a:pt x="1365390" y="209550"/>
                  </a:cubicBezTo>
                  <a:cubicBezTo>
                    <a:pt x="1365390" y="325281"/>
                    <a:pt x="1270458" y="419100"/>
                    <a:pt x="1135827" y="419100"/>
                  </a:cubicBezTo>
                  <a:lnTo>
                    <a:pt x="6777" y="419100"/>
                  </a:lnTo>
                  <a:cubicBezTo>
                    <a:pt x="4980" y="419100"/>
                    <a:pt x="3256" y="418386"/>
                    <a:pt x="1985" y="417115"/>
                  </a:cubicBezTo>
                  <a:cubicBezTo>
                    <a:pt x="714" y="415844"/>
                    <a:pt x="0" y="414120"/>
                    <a:pt x="0" y="412323"/>
                  </a:cubicBezTo>
                  <a:lnTo>
                    <a:pt x="0" y="6777"/>
                  </a:lnTo>
                  <a:cubicBezTo>
                    <a:pt x="0" y="4980"/>
                    <a:pt x="714" y="3256"/>
                    <a:pt x="1985" y="1985"/>
                  </a:cubicBezTo>
                  <a:cubicBezTo>
                    <a:pt x="3256" y="714"/>
                    <a:pt x="4980" y="0"/>
                    <a:pt x="67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113679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783673" y="-1754973"/>
            <a:ext cx="5567346" cy="55673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1940" y="398411"/>
            <a:ext cx="16352724" cy="141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607"/>
              </a:lnSpc>
            </a:pPr>
            <a:r>
              <a:rPr lang="en-US" b="true" sz="10298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Future Scope &amp; Scalability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540868"/>
            <a:ext cx="7919530" cy="648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50"/>
              </a:lnSpc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tabase Scalability</a:t>
            </a:r>
          </a:p>
          <a:p>
            <a:pPr algn="just" marL="582930" indent="-291465" lvl="1">
              <a:lnSpc>
                <a:spcPts val="6750"/>
              </a:lnSpc>
              <a:buFont typeface="Arial"/>
              <a:buChar char="•"/>
            </a:pPr>
            <a:r>
              <a:rPr lang="en-US" sz="2700" spc="2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Support additional vaccine candidates</a:t>
            </a:r>
          </a:p>
          <a:p>
            <a:pPr algn="just" marL="582930" indent="-291465" lvl="1">
              <a:lnSpc>
                <a:spcPts val="6750"/>
              </a:lnSpc>
              <a:buFont typeface="Arial"/>
              <a:buChar char="•"/>
            </a:pPr>
            <a:r>
              <a:rPr lang="en-US" sz="2700" spc="2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Support additional clinical studies</a:t>
            </a:r>
          </a:p>
          <a:p>
            <a:pPr algn="just">
              <a:lnSpc>
                <a:spcPts val="8250"/>
              </a:lnSpc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Advanced Analytics</a:t>
            </a:r>
          </a:p>
          <a:p>
            <a:pPr algn="just" marL="582930" indent="-291465" lvl="1">
              <a:lnSpc>
                <a:spcPts val="6750"/>
              </a:lnSpc>
              <a:buFont typeface="Arial"/>
              <a:buChar char="•"/>
            </a:pPr>
            <a:r>
              <a:rPr lang="en-US" sz="2700" spc="2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More SQL queries and relational views</a:t>
            </a:r>
          </a:p>
          <a:p>
            <a:pPr algn="just">
              <a:lnSpc>
                <a:spcPts val="8250"/>
              </a:lnSpc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Automated Business Logic</a:t>
            </a:r>
          </a:p>
          <a:p>
            <a:pPr algn="just" marL="582930" indent="-291465" lvl="1">
              <a:lnSpc>
                <a:spcPts val="6750"/>
              </a:lnSpc>
              <a:buFont typeface="Arial"/>
              <a:buChar char="•"/>
            </a:pPr>
            <a:r>
              <a:rPr lang="en-US" sz="2700" spc="2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Expand stored procedures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58971" y="7540302"/>
            <a:ext cx="1369094" cy="13690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97760" y="1540868"/>
            <a:ext cx="7919530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50"/>
              </a:lnSpc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Application Expansion</a:t>
            </a:r>
          </a:p>
          <a:p>
            <a:pPr algn="just" marL="582930" indent="-291465" lvl="1">
              <a:lnSpc>
                <a:spcPts val="6750"/>
              </a:lnSpc>
              <a:buFont typeface="Arial"/>
              <a:buChar char="•"/>
            </a:pPr>
            <a:r>
              <a:rPr lang="en-US" sz="2700" spc="2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Extend Streamlit CRUD functionality</a:t>
            </a:r>
          </a:p>
          <a:p>
            <a:pPr algn="just">
              <a:lnSpc>
                <a:spcPts val="8250"/>
              </a:lnSpc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Multi-Study Management</a:t>
            </a:r>
          </a:p>
          <a:p>
            <a:pPr algn="just" marL="582930" indent="-291465" lvl="1">
              <a:lnSpc>
                <a:spcPts val="6750"/>
              </a:lnSpc>
              <a:buFont typeface="Arial"/>
              <a:buChar char="•"/>
            </a:pPr>
            <a:r>
              <a:rPr lang="en-US" sz="2700" spc="2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Manage growing clinical trial datasets</a:t>
            </a:r>
          </a:p>
        </p:txBody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5004" y="7612705"/>
            <a:ext cx="15009122" cy="6574519"/>
            <a:chOff x="0" y="0"/>
            <a:chExt cx="956773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6773" cy="419100"/>
            </a:xfrm>
            <a:custGeom>
              <a:avLst/>
              <a:gdLst/>
              <a:ahLst/>
              <a:cxnLst/>
              <a:rect r="r" b="b" t="t" l="l"/>
              <a:pathLst>
                <a:path h="419100" w="956773">
                  <a:moveTo>
                    <a:pt x="9672" y="0"/>
                  </a:moveTo>
                  <a:lnTo>
                    <a:pt x="736687" y="0"/>
                  </a:lnTo>
                  <a:cubicBezTo>
                    <a:pt x="861842" y="0"/>
                    <a:pt x="956773" y="93819"/>
                    <a:pt x="956773" y="209550"/>
                  </a:cubicBezTo>
                  <a:cubicBezTo>
                    <a:pt x="956773" y="325281"/>
                    <a:pt x="861842" y="419100"/>
                    <a:pt x="736687" y="419100"/>
                  </a:cubicBezTo>
                  <a:lnTo>
                    <a:pt x="9672" y="419100"/>
                  </a:lnTo>
                  <a:cubicBezTo>
                    <a:pt x="7106" y="419100"/>
                    <a:pt x="4646" y="418081"/>
                    <a:pt x="2833" y="416267"/>
                  </a:cubicBezTo>
                  <a:cubicBezTo>
                    <a:pt x="1019" y="414454"/>
                    <a:pt x="0" y="411994"/>
                    <a:pt x="0" y="409428"/>
                  </a:cubicBezTo>
                  <a:lnTo>
                    <a:pt x="0" y="9672"/>
                  </a:lnTo>
                  <a:cubicBezTo>
                    <a:pt x="0" y="7106"/>
                    <a:pt x="1019" y="4646"/>
                    <a:pt x="2833" y="2833"/>
                  </a:cubicBezTo>
                  <a:cubicBezTo>
                    <a:pt x="4646" y="1019"/>
                    <a:pt x="7106" y="0"/>
                    <a:pt x="96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728173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150962" y="-1315333"/>
            <a:ext cx="3241445" cy="32414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599428" y="373051"/>
            <a:ext cx="11089144" cy="214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73"/>
              </a:lnSpc>
            </a:pPr>
            <a:r>
              <a:rPr lang="en-US" b="true" sz="15799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27384" y="8782061"/>
            <a:ext cx="1369094" cy="13690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386702" y="2307007"/>
            <a:ext cx="9514597" cy="510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Centralized R&amp;D 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tabase</a:t>
            </a:r>
          </a:p>
          <a:p>
            <a:pPr algn="just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Connects biol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ogical and clinical data</a:t>
            </a:r>
          </a:p>
          <a:p>
            <a:pPr algn="just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Supports clinical tri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al monit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oring</a:t>
            </a:r>
          </a:p>
          <a:p>
            <a:pPr algn="just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Protects participant confiden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tiality</a:t>
            </a:r>
          </a:p>
          <a:p>
            <a:pPr algn="just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Enables </a:t>
            </a:r>
            <a:r>
              <a:rPr lang="en-US" b="true" sz="3300" spc="2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adverse event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20034" y="5370828"/>
            <a:ext cx="12403319" cy="6574519"/>
            <a:chOff x="0" y="0"/>
            <a:chExt cx="790663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0663" cy="419100"/>
            </a:xfrm>
            <a:custGeom>
              <a:avLst/>
              <a:gdLst/>
              <a:ahLst/>
              <a:cxnLst/>
              <a:rect r="r" b="b" t="t" l="l"/>
              <a:pathLst>
                <a:path h="419100" w="790663">
                  <a:moveTo>
                    <a:pt x="11703" y="0"/>
                  </a:moveTo>
                  <a:lnTo>
                    <a:pt x="574429" y="0"/>
                  </a:lnTo>
                  <a:cubicBezTo>
                    <a:pt x="695732" y="0"/>
                    <a:pt x="790663" y="93819"/>
                    <a:pt x="790663" y="209550"/>
                  </a:cubicBezTo>
                  <a:cubicBezTo>
                    <a:pt x="790663" y="325281"/>
                    <a:pt x="695732" y="419100"/>
                    <a:pt x="574429" y="419100"/>
                  </a:cubicBezTo>
                  <a:lnTo>
                    <a:pt x="11703" y="419100"/>
                  </a:lnTo>
                  <a:cubicBezTo>
                    <a:pt x="5240" y="419100"/>
                    <a:pt x="0" y="413860"/>
                    <a:pt x="0" y="407397"/>
                  </a:cubicBezTo>
                  <a:lnTo>
                    <a:pt x="0" y="11703"/>
                  </a:lnTo>
                  <a:cubicBezTo>
                    <a:pt x="0" y="5240"/>
                    <a:pt x="5240" y="0"/>
                    <a:pt x="117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6A7A">
                    <a:alpha val="100000"/>
                  </a:srgbClr>
                </a:gs>
                <a:gs pos="100000">
                  <a:srgbClr val="082E4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38100"/>
              <a:ext cx="562063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150962" y="-1315333"/>
            <a:ext cx="3241445" cy="32414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661522" y="562564"/>
            <a:ext cx="12478905" cy="419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273"/>
              </a:lnSpc>
            </a:pPr>
            <a:r>
              <a:rPr lang="en-US" b="true" sz="15799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  <a:p>
            <a:pPr algn="just" marL="0" indent="0" lvl="0">
              <a:lnSpc>
                <a:spcPts val="16273"/>
              </a:lnSpc>
            </a:pPr>
            <a:r>
              <a:rPr lang="en-US" b="true" sz="15799">
                <a:gradFill>
                  <a:gsLst>
                    <a:gs pos="0">
                      <a:srgbClr val="4B7A4D">
                        <a:alpha val="100000"/>
                      </a:srgbClr>
                    </a:gs>
                    <a:gs pos="100000">
                      <a:srgbClr val="F8D556">
                        <a:alpha val="100000"/>
                      </a:srgbClr>
                    </a:gs>
                  </a:gsLst>
                  <a:lin ang="0"/>
                </a:gradFill>
                <a:latin typeface="Aileron Bold"/>
                <a:ea typeface="Aileron Bold"/>
                <a:cs typeface="Aileron Bold"/>
                <a:sym typeface="Aileron Bold"/>
              </a:rPr>
              <a:t>Questions?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531881" y="8355657"/>
            <a:ext cx="1369094" cy="13690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B7A4D">
                    <a:alpha val="100000"/>
                  </a:srgbClr>
                </a:gs>
                <a:gs pos="100000">
                  <a:srgbClr val="F8D55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DAHSFQnL-KU</dc:identifier>
  <dcterms:modified xsi:type="dcterms:W3CDTF">2011-08-01T06:04:30Z</dcterms:modified>
  <cp:revision>1</cp:revision>
  <dc:title>Vaccine R&amp;D Management System Overview</dc:title>
</cp:coreProperties>
</file>